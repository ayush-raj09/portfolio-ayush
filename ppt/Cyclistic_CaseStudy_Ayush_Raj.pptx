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 Riders</c:v>
                </c:pt>
              </c:strCache>
            </c:strRef>
          </c:tx>
          <c:spPr>
            <a:solidFill>
              <a:srgbClr val="E63946"/>
            </a:solidFill>
            <a:ln w="3810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18000</c:v>
                </c:pt>
                <c:pt idx="1">
                  <c:v>22000</c:v>
                </c:pt>
                <c:pt idx="2">
                  <c:v>55000</c:v>
                </c:pt>
                <c:pt idx="3">
                  <c:v>140000</c:v>
                </c:pt>
                <c:pt idx="4">
                  <c:v>250000</c:v>
                </c:pt>
                <c:pt idx="5">
                  <c:v>370000</c:v>
                </c:pt>
                <c:pt idx="6">
                  <c:v>430000</c:v>
                </c:pt>
                <c:pt idx="7">
                  <c:v>390000</c:v>
                </c:pt>
                <c:pt idx="8">
                  <c:v>280000</c:v>
                </c:pt>
                <c:pt idx="9">
                  <c:v>145000</c:v>
                </c:pt>
                <c:pt idx="10">
                  <c:v>55000</c:v>
                </c:pt>
                <c:pt idx="11">
                  <c:v>22000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2EC4B6"/>
            </a:solidFill>
            <a:ln w="3810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80000</c:v>
                </c:pt>
                <c:pt idx="1">
                  <c:v>90000</c:v>
                </c:pt>
                <c:pt idx="2">
                  <c:v>160000</c:v>
                </c:pt>
                <c:pt idx="3">
                  <c:v>220000</c:v>
                </c:pt>
                <c:pt idx="4">
                  <c:v>310000</c:v>
                </c:pt>
                <c:pt idx="5">
                  <c:v>380000</c:v>
                </c:pt>
                <c:pt idx="6">
                  <c:v>405000</c:v>
                </c:pt>
                <c:pt idx="7">
                  <c:v>390000</c:v>
                </c:pt>
                <c:pt idx="8">
                  <c:v>340000</c:v>
                </c:pt>
                <c:pt idx="9">
                  <c:v>250000</c:v>
                </c:pt>
                <c:pt idx="10">
                  <c:v>130000</c:v>
                </c:pt>
                <c:pt idx="11">
                  <c:v>85000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46304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229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CYCLISTIC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16002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1000" kern="0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457200" y="2423160"/>
            <a:ext cx="4114800" cy="4572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606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B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 Analytics Capstone Project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30632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Ayush Raj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7200" y="3520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ayushraj.work9@gmail.com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50292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0" y="502920"/>
            <a:ext cx="502920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795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66751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9476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Company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0" y="192024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920240"/>
            <a:ext cx="502920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08483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94760" y="2468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Task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200400" y="333756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0" y="3337560"/>
            <a:ext cx="502920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0040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5021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94760" y="3886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035040" y="50292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035040" y="502920"/>
            <a:ext cx="502920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035040" y="795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66751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2940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&amp; Findings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035040" y="192024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035040" y="1920240"/>
            <a:ext cx="502920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03504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08483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629400" y="2468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6035040" y="333756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35040" y="3337560"/>
            <a:ext cx="502920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03504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502152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629400" y="3886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CYCLISTIC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6596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19659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5,824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Bicycles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143000"/>
            <a:ext cx="196596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143000"/>
            <a:ext cx="19659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2801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692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14600" y="1901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196596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143000"/>
            <a:ext cx="19659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2801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63440" y="1901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1143000"/>
            <a:ext cx="196596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1143000"/>
            <a:ext cx="19659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2801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Chicago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901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560320"/>
            <a:ext cx="8412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560320"/>
            <a:ext cx="91440" cy="2286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697480"/>
            <a:ext cx="8046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in 2016 as a successful bike-share program across Chicago.</a:t>
            </a:r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are geo-tracked and can be unlocked from one station and returned to any other station anytime.</a:t>
            </a:r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pricing plans: single-ride passes, full-day passes, and annual memberships.</a:t>
            </a:r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— single/day pass users  |  Members — annual membership holders.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TASK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463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8448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070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0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OBJECTIVE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71600" y="1554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how annual members and casual riders use Cyclistic bikes differently — and design marketing strategies to convert casual riders into annual members.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STAKEHOLDERS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32461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3246120"/>
            <a:ext cx="260604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3375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3886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Lily Moreno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4251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Marketing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0" y="32461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0" y="3246120"/>
            <a:ext cx="260604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3375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91840" y="3886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Team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291840" y="4251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Marketing Analytics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035040" y="32461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35040" y="3246120"/>
            <a:ext cx="260604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33756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26480" y="3886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Team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126480" y="4251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Leadership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93776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D99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63040" y="1572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Bike Rides: Jan – Dec 2022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463040" y="20299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Monthly CSV files  |  Public dataset by Motivate International Inc.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77840" y="1188720"/>
            <a:ext cx="521208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128016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72200" y="1188720"/>
            <a:ext cx="521208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128016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1188720"/>
            <a:ext cx="521208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128016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60920" y="1188720"/>
            <a:ext cx="521208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60920" y="128016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55280" y="1188720"/>
            <a:ext cx="521208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0" y="128016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549640" y="1188720"/>
            <a:ext cx="521208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49640" y="128016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77840" y="1783080"/>
            <a:ext cx="521208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77840" y="187452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72200" y="1783080"/>
            <a:ext cx="521208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72200" y="187452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766560" y="1783080"/>
            <a:ext cx="521208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66560" y="187452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360920" y="1783080"/>
            <a:ext cx="521208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60920" y="187452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955280" y="1783080"/>
            <a:ext cx="521208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55280" y="187452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549640" y="1783080"/>
            <a:ext cx="521208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49640" y="187452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65760" y="2788920"/>
            <a:ext cx="162763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65760" y="2788920"/>
            <a:ext cx="1627632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290779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Ride ID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57200" y="3401568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per trip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2084832" y="2788920"/>
            <a:ext cx="162763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2084832" y="2788920"/>
            <a:ext cx="1627632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176272" y="290779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Ride Type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2176272" y="3401568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Classic, electric, docked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803904" y="2788920"/>
            <a:ext cx="162763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803904" y="2788920"/>
            <a:ext cx="1627632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895344" y="290779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Start/End Time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3895344" y="3401568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for trip duration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522976" y="2788920"/>
            <a:ext cx="162763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5522976" y="2788920"/>
            <a:ext cx="1627632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614416" y="290779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Station Info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5614416" y="3401568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&amp; end station names/coords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242048" y="2788920"/>
            <a:ext cx="162763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7242048" y="2788920"/>
            <a:ext cx="1627632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333488" y="290779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 Type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333488" y="3401568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vs Casual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658368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216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Raw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43000" y="16184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12 monthly CSV files into R for combined analysis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14300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43000"/>
            <a:ext cx="658368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6304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216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 Duplicates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577840" y="16184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eliminated all duplicate ride entries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44144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41448"/>
            <a:ext cx="658368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614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 / Invalid Values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3000" y="291693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out missing station names, IDs, and negative durations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244144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441448"/>
            <a:ext cx="658368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7614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Standardize Columns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577840" y="291693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consistent naming conventions across all 12 files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373989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39896"/>
            <a:ext cx="658368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5993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43000" y="38130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 Data Types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43000" y="421538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date/time columns to proper datetime format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00600" y="373989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739896"/>
            <a:ext cx="658368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05993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77840" y="38130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Integrity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577840" y="421538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record counts and validated final clean dataset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&amp; FINDINGS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4048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Riding Patterns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09728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097280"/>
            <a:ext cx="73152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1143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 Season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89320" y="1435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groups spike in summer; casuals are far more extreme in their rise and fall.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06440" y="196596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06440" y="1965960"/>
            <a:ext cx="73152" cy="7772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011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 Stability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89320" y="23042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ride even in winter, indicating habitual commuting behaviour.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06440" y="283464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06440" y="2834640"/>
            <a:ext cx="73152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80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 Sensitivity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89320" y="31729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are highly sensitive to temperature — membership insulates against churn.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806440" y="370332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06440" y="3703320"/>
            <a:ext cx="73152" cy="7772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3749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Window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89320" y="4041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is the ideal time to pitch annual memberships to casual riders.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&amp; FINDINGS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4048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Riding Behaviour Comparison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63240"/>
                <a:gridCol w="3063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Metric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Casual Riders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Members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 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especially weekdays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rides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Shorter, efficient trips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Weekends (leisure)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Weekdays (commuting)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Bike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Docked bikes less preferred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Docked bikes dominate 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Recreation / Tourism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Commuting / Habit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297680"/>
            <a:ext cx="2606040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31596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40%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371600" y="431596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ride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casuals vs members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4297680"/>
            <a:ext cx="260604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431596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2×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206240" y="431596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frequently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4297680"/>
            <a:ext cx="2606040" cy="685800"/>
          </a:xfrm>
          <a:prstGeom prst="rect">
            <a:avLst/>
          </a:prstGeom>
          <a:solidFill>
            <a:srgbClr val="2EC4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431596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Sa/Su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40880" y="431596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peak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20624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594360" cy="594360"/>
          </a:xfrm>
          <a:prstGeom prst="ellipse">
            <a:avLst/>
          </a:prstGeom>
          <a:solidFill>
            <a:srgbClr val="FFE8EA"/>
          </a:solidFill>
          <a:ln w="12700">
            <a:solidFill>
              <a:srgbClr val="FFE8E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99032"/>
            <a:ext cx="448056" cy="4480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31920" y="1234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E8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280160" y="1325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Summer Membership Drive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19202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targeted promotions during peak summer months when casual ridership is highest — best conversion window.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800600" y="11430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143000"/>
            <a:ext cx="4206240" cy="91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83480" y="1325880"/>
            <a:ext cx="594360" cy="594360"/>
          </a:xfrm>
          <a:prstGeom prst="ellipse">
            <a:avLst/>
          </a:prstGeom>
          <a:solidFill>
            <a:srgbClr val="E0FAF7"/>
          </a:solidFill>
          <a:ln w="12700">
            <a:solidFill>
              <a:srgbClr val="E0FAF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399032"/>
            <a:ext cx="448056" cy="4480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66760" y="1234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0F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5715000" y="1325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Weekend-to-Weekday Push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983480" y="19202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commuting benefits and cost savings of annual membership to weekend casual riders.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65760" y="306324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5760" y="3063240"/>
            <a:ext cx="420624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246120"/>
            <a:ext cx="594360" cy="594360"/>
          </a:xfrm>
          <a:prstGeom prst="ellipse">
            <a:avLst/>
          </a:prstGeom>
          <a:solidFill>
            <a:srgbClr val="FFE8EA"/>
          </a:solidFill>
          <a:ln w="12700">
            <a:solidFill>
              <a:srgbClr val="FFE8E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319272"/>
            <a:ext cx="448056" cy="4480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931920" y="3154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E8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128016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Personalization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48640" y="3840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ride history data to deliver personalized membership offers via app notifications and email campaigns.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800600" y="306324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800600" y="3063240"/>
            <a:ext cx="4206240" cy="91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983480" y="3246120"/>
            <a:ext cx="594360" cy="594360"/>
          </a:xfrm>
          <a:prstGeom prst="ellipse">
            <a:avLst/>
          </a:prstGeom>
          <a:solidFill>
            <a:srgbClr val="E0FAF7"/>
          </a:solidFill>
          <a:ln w="12700">
            <a:solidFill>
              <a:srgbClr val="E0FAF7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319272"/>
            <a:ext cx="448056" cy="4480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366760" y="3154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0F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31" name="Text 25"/>
          <p:cNvSpPr/>
          <p:nvPr/>
        </p:nvSpPr>
        <p:spPr>
          <a:xfrm>
            <a:off x="571500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Incentive Programmes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4983480" y="3840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discounted first month or trial membership to reduce conversion friction for heavy casual users.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960120"/>
            <a:ext cx="45720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0700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430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take longer trips; members ride more frequently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8013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Casuals peak on weekends; members peak on weekdays — different intents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523744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45973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Casuals are seasonal and weather-dependent; members are consistent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182112"/>
            <a:ext cx="384048" cy="3840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311810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casuals to members = higher profitability and retention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840480"/>
            <a:ext cx="384048" cy="38404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377647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digital promotions in summer can drive long-term membership growth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384048" y="4160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into rider behaviour empower Cyclistic to craft strategies that grow membership sustainably.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28016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22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41148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965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B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connect.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Ayush Raj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30632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ayushraj.work9@gmail.com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 Analytics Capstone  |  2024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Case Study – Ayush Raj</dc:title>
  <dc:subject>PptxGenJS Presentation</dc:subject>
  <dc:creator>PptxGenJS</dc:creator>
  <cp:lastModifiedBy>PptxGenJS</cp:lastModifiedBy>
  <cp:revision>1</cp:revision>
  <dcterms:created xsi:type="dcterms:W3CDTF">2026-04-14T18:56:06Z</dcterms:created>
  <dcterms:modified xsi:type="dcterms:W3CDTF">2026-04-14T18:56:06Z</dcterms:modified>
</cp:coreProperties>
</file>